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Hoves" charset="1" panose="02000003020000060003"/>
      <p:regular r:id="rId16"/>
    </p:embeddedFont>
    <p:embeddedFont>
      <p:font typeface="TT Hoves Bold" charset="1" panose="02000003020000060003"/>
      <p:regular r:id="rId17"/>
    </p:embeddedFont>
    <p:embeddedFont>
      <p:font typeface="Catchy Mager" charset="1" panose="02000506000000020004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11" Target="../media/image21.jpe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4768" y="1808242"/>
            <a:ext cx="11358464" cy="6670516"/>
          </a:xfrm>
          <a:custGeom>
            <a:avLst/>
            <a:gdLst/>
            <a:ahLst/>
            <a:cxnLst/>
            <a:rect r="r" b="b" t="t" l="l"/>
            <a:pathLst>
              <a:path h="6670516" w="11358464">
                <a:moveTo>
                  <a:pt x="0" y="0"/>
                </a:moveTo>
                <a:lnTo>
                  <a:pt x="11358464" y="0"/>
                </a:lnTo>
                <a:lnTo>
                  <a:pt x="11358464" y="6670516"/>
                </a:lnTo>
                <a:lnTo>
                  <a:pt x="0" y="6670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73069" y="3107391"/>
            <a:ext cx="5559342" cy="4072218"/>
          </a:xfrm>
          <a:custGeom>
            <a:avLst/>
            <a:gdLst/>
            <a:ahLst/>
            <a:cxnLst/>
            <a:rect r="r" b="b" t="t" l="l"/>
            <a:pathLst>
              <a:path h="4072218" w="5559342">
                <a:moveTo>
                  <a:pt x="0" y="0"/>
                </a:moveTo>
                <a:lnTo>
                  <a:pt x="5559343" y="0"/>
                </a:lnTo>
                <a:lnTo>
                  <a:pt x="5559343" y="4072218"/>
                </a:lnTo>
                <a:lnTo>
                  <a:pt x="0" y="407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46617" y="3107391"/>
            <a:ext cx="5634087" cy="4072218"/>
          </a:xfrm>
          <a:custGeom>
            <a:avLst/>
            <a:gdLst/>
            <a:ahLst/>
            <a:cxnLst/>
            <a:rect r="r" b="b" t="t" l="l"/>
            <a:pathLst>
              <a:path h="4072218" w="5634087">
                <a:moveTo>
                  <a:pt x="0" y="0"/>
                </a:moveTo>
                <a:lnTo>
                  <a:pt x="5634087" y="0"/>
                </a:lnTo>
                <a:lnTo>
                  <a:pt x="5634087" y="4072218"/>
                </a:lnTo>
                <a:lnTo>
                  <a:pt x="0" y="40722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83626" y="1028700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0" y="0"/>
                </a:moveTo>
                <a:lnTo>
                  <a:pt x="4575674" y="0"/>
                </a:lnTo>
                <a:lnTo>
                  <a:pt x="4575674" y="574039"/>
                </a:lnTo>
                <a:lnTo>
                  <a:pt x="0" y="5740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28700" y="8684261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4575674" y="0"/>
                </a:moveTo>
                <a:lnTo>
                  <a:pt x="0" y="0"/>
                </a:lnTo>
                <a:lnTo>
                  <a:pt x="0" y="574039"/>
                </a:lnTo>
                <a:lnTo>
                  <a:pt x="4575674" y="574039"/>
                </a:lnTo>
                <a:lnTo>
                  <a:pt x="45756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69942" y="5904054"/>
            <a:ext cx="6935942" cy="185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4062">
                <a:solidFill>
                  <a:srgbClr val="77E8FF"/>
                </a:solidFill>
                <a:latin typeface="TT Hoves"/>
                <a:ea typeface="TT Hoves"/>
                <a:cs typeface="TT Hoves"/>
                <a:sym typeface="TT Hoves"/>
              </a:rPr>
              <a:t>Topic: Artificial Neural Networks (ANN)</a:t>
            </a:r>
          </a:p>
          <a:p>
            <a:pPr algn="ctr">
              <a:lnSpc>
                <a:spcPts val="3940"/>
              </a:lnSpc>
            </a:pPr>
          </a:p>
          <a:p>
            <a:pPr algn="ctr">
              <a:lnSpc>
                <a:spcPts val="277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003407" y="4133588"/>
            <a:ext cx="6748117" cy="220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856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AI Concept Explainer: One Topic at Three Levels</a:t>
            </a:r>
          </a:p>
          <a:p>
            <a:pPr algn="ctr" marL="0" indent="0" lvl="0">
              <a:lnSpc>
                <a:spcPts val="70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9512" y="590104"/>
            <a:ext cx="15800832" cy="8229600"/>
          </a:xfrm>
          <a:custGeom>
            <a:avLst/>
            <a:gdLst/>
            <a:ahLst/>
            <a:cxnLst/>
            <a:rect r="r" b="b" t="t" l="l"/>
            <a:pathLst>
              <a:path h="8229600" w="15800832">
                <a:moveTo>
                  <a:pt x="0" y="0"/>
                </a:moveTo>
                <a:lnTo>
                  <a:pt x="15800832" y="0"/>
                </a:lnTo>
                <a:lnTo>
                  <a:pt x="158008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726702" y="1323925"/>
            <a:ext cx="6761959" cy="676195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6666" t="0" r="-16666" b="0"/>
              </a:stretch>
            </a:blipFill>
            <a:ln w="209550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19304" y="6962816"/>
            <a:ext cx="6089941" cy="4707072"/>
          </a:xfrm>
          <a:custGeom>
            <a:avLst/>
            <a:gdLst/>
            <a:ahLst/>
            <a:cxnLst/>
            <a:rect r="r" b="b" t="t" l="l"/>
            <a:pathLst>
              <a:path h="4707072" w="6089941">
                <a:moveTo>
                  <a:pt x="0" y="0"/>
                </a:moveTo>
                <a:lnTo>
                  <a:pt x="6089940" y="0"/>
                </a:lnTo>
                <a:lnTo>
                  <a:pt x="6089940" y="4707072"/>
                </a:lnTo>
                <a:lnTo>
                  <a:pt x="0" y="4707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2222233" y="9029333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4575674" y="0"/>
                </a:moveTo>
                <a:lnTo>
                  <a:pt x="0" y="0"/>
                </a:lnTo>
                <a:lnTo>
                  <a:pt x="0" y="574039"/>
                </a:lnTo>
                <a:lnTo>
                  <a:pt x="4575674" y="574039"/>
                </a:lnTo>
                <a:lnTo>
                  <a:pt x="45756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5335" y="1504151"/>
            <a:ext cx="7695321" cy="80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6206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656" y="2390288"/>
            <a:ext cx="13562169" cy="724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</a:p>
          <a:p>
            <a:pPr algn="l">
              <a:lnSpc>
                <a:spcPts val="3957"/>
              </a:lnSpc>
            </a:pPr>
            <a:r>
              <a:rPr lang="en-US" sz="4165" spc="-270">
                <a:solidFill>
                  <a:srgbClr val="FCFEFF"/>
                </a:solidFill>
                <a:latin typeface="Catchy Mager"/>
                <a:ea typeface="Catchy Mager"/>
                <a:cs typeface="Catchy Mager"/>
                <a:sym typeface="Catchy Mager"/>
              </a:rPr>
              <a:t>                     </a:t>
            </a:r>
            <a:r>
              <a:rPr lang="en-US" sz="4165" spc="-270">
                <a:solidFill>
                  <a:srgbClr val="FCFEFF"/>
                </a:solidFill>
                <a:latin typeface="Catchy Mager"/>
                <a:ea typeface="Catchy Mager"/>
                <a:cs typeface="Catchy Mager"/>
                <a:sym typeface="Catchy Mager"/>
              </a:rPr>
              <a:t>One Concept, Different Learners</a:t>
            </a:r>
          </a:p>
          <a:p>
            <a:pPr algn="l">
              <a:lnSpc>
                <a:spcPts val="3577"/>
              </a:lnSpc>
            </a:pPr>
          </a:p>
          <a:p>
            <a:pPr algn="l" marL="813029" indent="-406514" lvl="1">
              <a:lnSpc>
                <a:spcPts val="3577"/>
              </a:lnSpc>
              <a:buFont typeface="Arial"/>
              <a:buChar char="•"/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Artificial Neural Networks can be difficult for beginners </a:t>
            </a:r>
          </a:p>
          <a:p>
            <a:pPr algn="l">
              <a:lnSpc>
                <a:spcPts val="3577"/>
              </a:lnSpc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    </a:t>
            </a: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to understand.</a:t>
            </a:r>
          </a:p>
          <a:p>
            <a:pPr algn="l">
              <a:lnSpc>
                <a:spcPts val="3577"/>
              </a:lnSpc>
            </a:pPr>
          </a:p>
          <a:p>
            <a:pPr algn="l" marL="813029" indent="-406514" lvl="1">
              <a:lnSpc>
                <a:spcPts val="3577"/>
              </a:lnSpc>
              <a:buFont typeface="Arial"/>
              <a:buChar char="•"/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School students need simple explanations and familiar</a:t>
            </a:r>
          </a:p>
          <a:p>
            <a:pPr algn="l">
              <a:lnSpc>
                <a:spcPts val="3577"/>
              </a:lnSpc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    examples.</a:t>
            </a:r>
          </a:p>
          <a:p>
            <a:pPr algn="l">
              <a:lnSpc>
                <a:spcPts val="3577"/>
              </a:lnSpc>
            </a:pPr>
          </a:p>
          <a:p>
            <a:pPr algn="l" marL="813029" indent="-406514" lvl="1">
              <a:lnSpc>
                <a:spcPts val="3577"/>
              </a:lnSpc>
              <a:buFont typeface="Arial"/>
              <a:buChar char="•"/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Undergraduate students need technical concepts and </a:t>
            </a:r>
          </a:p>
          <a:p>
            <a:pPr algn="l">
              <a:lnSpc>
                <a:spcPts val="3577"/>
              </a:lnSpc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    </a:t>
            </a: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practical understanding.</a:t>
            </a:r>
          </a:p>
          <a:p>
            <a:pPr algn="l">
              <a:lnSpc>
                <a:spcPts val="3577"/>
              </a:lnSpc>
            </a:pPr>
          </a:p>
          <a:p>
            <a:pPr algn="l" marL="813029" indent="-406514" lvl="1">
              <a:lnSpc>
                <a:spcPts val="3577"/>
              </a:lnSpc>
              <a:buFont typeface="Arial"/>
              <a:buChar char="•"/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Experts need mathematical explanations and limitations.</a:t>
            </a:r>
          </a:p>
          <a:p>
            <a:pPr algn="l">
              <a:lnSpc>
                <a:spcPts val="3577"/>
              </a:lnSpc>
            </a:pPr>
          </a:p>
          <a:p>
            <a:pPr algn="l">
              <a:lnSpc>
                <a:spcPts val="3577"/>
              </a:lnSpc>
            </a:pPr>
            <a:r>
              <a:rPr lang="en-US" sz="3765" spc="-244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765" spc="-244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l" marL="0" indent="0" lvl="0">
              <a:lnSpc>
                <a:spcPts val="35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3584" y="1028700"/>
            <a:ext cx="15800832" cy="8229600"/>
          </a:xfrm>
          <a:custGeom>
            <a:avLst/>
            <a:gdLst/>
            <a:ahLst/>
            <a:cxnLst/>
            <a:rect r="r" b="b" t="t" l="l"/>
            <a:pathLst>
              <a:path h="8229600" w="15800832">
                <a:moveTo>
                  <a:pt x="0" y="0"/>
                </a:moveTo>
                <a:lnTo>
                  <a:pt x="15800832" y="0"/>
                </a:lnTo>
                <a:lnTo>
                  <a:pt x="158008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69766" y="1762520"/>
            <a:ext cx="6761959" cy="676195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6666" t="0" r="-16666" b="0"/>
              </a:stretch>
            </a:blipFill>
            <a:ln w="209550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19304" y="6962816"/>
            <a:ext cx="6089941" cy="4707072"/>
          </a:xfrm>
          <a:custGeom>
            <a:avLst/>
            <a:gdLst/>
            <a:ahLst/>
            <a:cxnLst/>
            <a:rect r="r" b="b" t="t" l="l"/>
            <a:pathLst>
              <a:path h="4707072" w="6089941">
                <a:moveTo>
                  <a:pt x="0" y="0"/>
                </a:moveTo>
                <a:lnTo>
                  <a:pt x="6089940" y="0"/>
                </a:lnTo>
                <a:lnTo>
                  <a:pt x="6089940" y="4707072"/>
                </a:lnTo>
                <a:lnTo>
                  <a:pt x="0" y="4707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2222233" y="9029333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4575674" y="0"/>
                </a:moveTo>
                <a:lnTo>
                  <a:pt x="0" y="0"/>
                </a:lnTo>
                <a:lnTo>
                  <a:pt x="0" y="574039"/>
                </a:lnTo>
                <a:lnTo>
                  <a:pt x="4575674" y="574039"/>
                </a:lnTo>
                <a:lnTo>
                  <a:pt x="45756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14711" y="3619710"/>
            <a:ext cx="10966391" cy="4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181" indent="-382090" lvl="1">
              <a:lnSpc>
                <a:spcPts val="3362"/>
              </a:lnSpc>
              <a:buFont typeface="Arial"/>
              <a:buChar char="•"/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Explain Artificial Neural Networks at three learning</a:t>
            </a:r>
          </a:p>
          <a:p>
            <a:pPr algn="l">
              <a:lnSpc>
                <a:spcPts val="3362"/>
              </a:lnSpc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    levels.</a:t>
            </a:r>
          </a:p>
          <a:p>
            <a:pPr algn="l" marL="764181" indent="-382090" lvl="1">
              <a:lnSpc>
                <a:spcPts val="3362"/>
              </a:lnSpc>
              <a:buFont typeface="Arial"/>
              <a:buChar char="•"/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Generate simple and technical explanations using </a:t>
            </a:r>
          </a:p>
          <a:p>
            <a:pPr algn="l">
              <a:lnSpc>
                <a:spcPts val="3362"/>
              </a:lnSpc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    </a:t>
            </a: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AI tools.</a:t>
            </a:r>
          </a:p>
          <a:p>
            <a:pPr algn="l" marL="764181" indent="-382090" lvl="1">
              <a:lnSpc>
                <a:spcPts val="3362"/>
              </a:lnSpc>
              <a:buFont typeface="Arial"/>
              <a:buChar char="•"/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Create suitable visuals and learning materials.</a:t>
            </a:r>
          </a:p>
          <a:p>
            <a:pPr algn="l" marL="764181" indent="-382090" lvl="1">
              <a:lnSpc>
                <a:spcPts val="3362"/>
              </a:lnSpc>
              <a:buFont typeface="Arial"/>
              <a:buChar char="•"/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Verify explanations using reliable educational sources.</a:t>
            </a:r>
          </a:p>
          <a:p>
            <a:pPr algn="l" marL="764181" indent="-382090" lvl="1">
              <a:lnSpc>
                <a:spcPts val="3362"/>
              </a:lnSpc>
              <a:buFont typeface="Arial"/>
              <a:buChar char="•"/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Assess understanding through a quiz.</a:t>
            </a:r>
          </a:p>
          <a:p>
            <a:pPr algn="l">
              <a:lnSpc>
                <a:spcPts val="3362"/>
              </a:lnSpc>
            </a:pPr>
          </a:p>
          <a:p>
            <a:pPr algn="l">
              <a:lnSpc>
                <a:spcPts val="3362"/>
              </a:lnSpc>
            </a:pPr>
          </a:p>
          <a:p>
            <a:pPr algn="l">
              <a:lnSpc>
                <a:spcPts val="3362"/>
              </a:lnSpc>
            </a:pP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</a:t>
            </a:r>
            <a:r>
              <a:rPr lang="en-US" sz="3539" spc="-230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Goal:</a:t>
            </a:r>
            <a:r>
              <a:rPr lang="en-US" sz="3539" spc="-230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Make complex AI concepts easier to understand.</a:t>
            </a:r>
          </a:p>
          <a:p>
            <a:pPr algn="l" marL="0" indent="0" lvl="0">
              <a:lnSpc>
                <a:spcPts val="336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35856" y="1501436"/>
            <a:ext cx="10966391" cy="44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181" indent="-382090" lvl="1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35983" y="2318994"/>
            <a:ext cx="7695321" cy="80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6206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3584" y="1028700"/>
            <a:ext cx="15800832" cy="8229600"/>
          </a:xfrm>
          <a:custGeom>
            <a:avLst/>
            <a:gdLst/>
            <a:ahLst/>
            <a:cxnLst/>
            <a:rect r="r" b="b" t="t" l="l"/>
            <a:pathLst>
              <a:path h="8229600" w="15800832">
                <a:moveTo>
                  <a:pt x="0" y="0"/>
                </a:moveTo>
                <a:lnTo>
                  <a:pt x="15800832" y="0"/>
                </a:lnTo>
                <a:lnTo>
                  <a:pt x="158008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69766" y="1762520"/>
            <a:ext cx="6761959" cy="676195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6666" t="0" r="-16666" b="0"/>
              </a:stretch>
            </a:blipFill>
            <a:ln w="209550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19304" y="6962816"/>
            <a:ext cx="6089941" cy="4707072"/>
          </a:xfrm>
          <a:custGeom>
            <a:avLst/>
            <a:gdLst/>
            <a:ahLst/>
            <a:cxnLst/>
            <a:rect r="r" b="b" t="t" l="l"/>
            <a:pathLst>
              <a:path h="4707072" w="6089941">
                <a:moveTo>
                  <a:pt x="0" y="0"/>
                </a:moveTo>
                <a:lnTo>
                  <a:pt x="6089940" y="0"/>
                </a:lnTo>
                <a:lnTo>
                  <a:pt x="6089940" y="4707072"/>
                </a:lnTo>
                <a:lnTo>
                  <a:pt x="0" y="4707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2222233" y="9029333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4575674" y="0"/>
                </a:moveTo>
                <a:lnTo>
                  <a:pt x="0" y="0"/>
                </a:lnTo>
                <a:lnTo>
                  <a:pt x="0" y="574039"/>
                </a:lnTo>
                <a:lnTo>
                  <a:pt x="4575674" y="574039"/>
                </a:lnTo>
                <a:lnTo>
                  <a:pt x="45756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8802" y="2853590"/>
            <a:ext cx="10518209" cy="617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411" spc="-221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What Is an Artificial Neural Network?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            </a:t>
            </a: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An Artificial Neural Network (ANN) is a computer</a:t>
            </a:r>
          </a:p>
          <a:p>
            <a:pPr algn="l">
              <a:lnSpc>
                <a:spcPts val="3240"/>
              </a:lnSpc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system that learns patterns from examples to make predictions.</a:t>
            </a:r>
          </a:p>
          <a:p>
            <a:pPr algn="l">
              <a:lnSpc>
                <a:spcPts val="3240"/>
              </a:lnSpc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Example: Learning to Recognise Cats 🐱</a:t>
            </a:r>
          </a:p>
          <a:p>
            <a:pPr algn="l" marL="736560" indent="-368280" lvl="1">
              <a:lnSpc>
                <a:spcPts val="3240"/>
              </a:lnSpc>
              <a:buFont typeface="Arial"/>
              <a:buChar char="•"/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See many pictures of cats.</a:t>
            </a:r>
          </a:p>
          <a:p>
            <a:pPr algn="l" marL="736560" indent="-368280" lvl="1">
              <a:lnSpc>
                <a:spcPts val="3240"/>
              </a:lnSpc>
              <a:buFont typeface="Arial"/>
              <a:buChar char="•"/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Identify common patterns.</a:t>
            </a:r>
          </a:p>
          <a:p>
            <a:pPr algn="l" marL="736560" indent="-368280" lvl="1">
              <a:lnSpc>
                <a:spcPts val="3240"/>
              </a:lnSpc>
              <a:buFont typeface="Arial"/>
              <a:buChar char="•"/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Learn from examples.</a:t>
            </a:r>
          </a:p>
          <a:p>
            <a:pPr algn="l" marL="736560" indent="-368280" lvl="1">
              <a:lnSpc>
                <a:spcPts val="3240"/>
              </a:lnSpc>
              <a:buFont typeface="Arial"/>
              <a:buChar char="•"/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Predict whether a new picture contains a cat.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3411" spc="-221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imple Workflow:</a:t>
            </a:r>
          </a:p>
          <a:p>
            <a:pPr algn="l">
              <a:lnSpc>
                <a:spcPts val="3240"/>
              </a:lnSpc>
            </a:pP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Examples → Learning Patterns → Prediction</a:t>
            </a:r>
          </a:p>
          <a:p>
            <a:pPr algn="l">
              <a:lnSpc>
                <a:spcPts val="3240"/>
              </a:lnSpc>
            </a:pPr>
            <a:r>
              <a:rPr lang="en-US" sz="3411" spc="-221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Note:</a:t>
            </a:r>
            <a:r>
              <a:rPr lang="en-US" sz="3411" spc="-221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Computers learn numerical patterns differently from humans.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65162" y="1698195"/>
            <a:ext cx="7777256" cy="68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7"/>
              </a:lnSpc>
            </a:pPr>
            <a:r>
              <a:rPr lang="en-US" sz="5193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Child-Level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3265" y="1168253"/>
            <a:ext cx="15800832" cy="8229600"/>
          </a:xfrm>
          <a:custGeom>
            <a:avLst/>
            <a:gdLst/>
            <a:ahLst/>
            <a:cxnLst/>
            <a:rect r="r" b="b" t="t" l="l"/>
            <a:pathLst>
              <a:path h="8229600" w="15800832">
                <a:moveTo>
                  <a:pt x="0" y="0"/>
                </a:moveTo>
                <a:lnTo>
                  <a:pt x="15800832" y="0"/>
                </a:lnTo>
                <a:lnTo>
                  <a:pt x="158008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69766" y="1762520"/>
            <a:ext cx="6761959" cy="676195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6666" t="0" r="-16666" b="0"/>
              </a:stretch>
            </a:blipFill>
            <a:ln w="209550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19304" y="6962816"/>
            <a:ext cx="6089941" cy="4707072"/>
          </a:xfrm>
          <a:custGeom>
            <a:avLst/>
            <a:gdLst/>
            <a:ahLst/>
            <a:cxnLst/>
            <a:rect r="r" b="b" t="t" l="l"/>
            <a:pathLst>
              <a:path h="4707072" w="6089941">
                <a:moveTo>
                  <a:pt x="0" y="0"/>
                </a:moveTo>
                <a:lnTo>
                  <a:pt x="6089940" y="0"/>
                </a:lnTo>
                <a:lnTo>
                  <a:pt x="6089940" y="4707072"/>
                </a:lnTo>
                <a:lnTo>
                  <a:pt x="0" y="4707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2222233" y="9029333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4575674" y="0"/>
                </a:moveTo>
                <a:lnTo>
                  <a:pt x="0" y="0"/>
                </a:lnTo>
                <a:lnTo>
                  <a:pt x="0" y="574039"/>
                </a:lnTo>
                <a:lnTo>
                  <a:pt x="4575674" y="574039"/>
                </a:lnTo>
                <a:lnTo>
                  <a:pt x="45756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12762" y="1555320"/>
            <a:ext cx="7777256" cy="142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593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Undergraduate-Level Explanation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9755" y="3042668"/>
            <a:ext cx="8563269" cy="619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877" spc="-187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How Does an Artificial Neural Network Work?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877" spc="-187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1. Neurons: Computational units that process numerical inputs.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877" spc="-187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2. Weights: Determine the influence of inputs.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877" spc="-187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3. Biases: Additional parameters that adjust calculations.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877" spc="-187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4. Activation Function: Introduces non-linearity into the network.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877" spc="-187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5. Training: Adjusts parameters to reduce prediction errors.</a:t>
            </a:r>
          </a:p>
          <a:p>
            <a:pPr algn="l">
              <a:lnSpc>
                <a:spcPts val="2733"/>
              </a:lnSpc>
            </a:pPr>
          </a:p>
          <a:p>
            <a:pPr algn="l">
              <a:lnSpc>
                <a:spcPts val="2733"/>
              </a:lnSpc>
            </a:pPr>
            <a:r>
              <a:rPr lang="en-US" sz="2877" spc="-187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Workflow:</a:t>
            </a:r>
          </a:p>
          <a:p>
            <a:pPr algn="l">
              <a:lnSpc>
                <a:spcPts val="2733"/>
              </a:lnSpc>
            </a:pPr>
            <a:r>
              <a:rPr lang="en-US" sz="2877" spc="-187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Input → Hidden Layers → Output → Loss Calculation → Parameter Updates</a:t>
            </a:r>
          </a:p>
          <a:p>
            <a:pPr algn="l" marL="0" indent="0" lvl="0">
              <a:lnSpc>
                <a:spcPts val="27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3584" y="1028700"/>
            <a:ext cx="15800832" cy="8229600"/>
          </a:xfrm>
          <a:custGeom>
            <a:avLst/>
            <a:gdLst/>
            <a:ahLst/>
            <a:cxnLst/>
            <a:rect r="r" b="b" t="t" l="l"/>
            <a:pathLst>
              <a:path h="8229600" w="15800832">
                <a:moveTo>
                  <a:pt x="0" y="0"/>
                </a:moveTo>
                <a:lnTo>
                  <a:pt x="15800832" y="0"/>
                </a:lnTo>
                <a:lnTo>
                  <a:pt x="158008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69766" y="1762520"/>
            <a:ext cx="6761959" cy="676195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6666" t="0" r="-16666" b="0"/>
              </a:stretch>
            </a:blipFill>
            <a:ln w="209550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19304" y="6962816"/>
            <a:ext cx="6089941" cy="4707072"/>
          </a:xfrm>
          <a:custGeom>
            <a:avLst/>
            <a:gdLst/>
            <a:ahLst/>
            <a:cxnLst/>
            <a:rect r="r" b="b" t="t" l="l"/>
            <a:pathLst>
              <a:path h="4707072" w="6089941">
                <a:moveTo>
                  <a:pt x="0" y="0"/>
                </a:moveTo>
                <a:lnTo>
                  <a:pt x="6089940" y="0"/>
                </a:lnTo>
                <a:lnTo>
                  <a:pt x="6089940" y="4707072"/>
                </a:lnTo>
                <a:lnTo>
                  <a:pt x="0" y="4707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2222233" y="9029333"/>
            <a:ext cx="4575674" cy="574039"/>
          </a:xfrm>
          <a:custGeom>
            <a:avLst/>
            <a:gdLst/>
            <a:ahLst/>
            <a:cxnLst/>
            <a:rect r="r" b="b" t="t" l="l"/>
            <a:pathLst>
              <a:path h="574039" w="4575674">
                <a:moveTo>
                  <a:pt x="4575674" y="0"/>
                </a:moveTo>
                <a:lnTo>
                  <a:pt x="0" y="0"/>
                </a:lnTo>
                <a:lnTo>
                  <a:pt x="0" y="574039"/>
                </a:lnTo>
                <a:lnTo>
                  <a:pt x="4575674" y="574039"/>
                </a:lnTo>
                <a:lnTo>
                  <a:pt x="45756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64959" y="2832803"/>
            <a:ext cx="9865897" cy="619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2866" spc="-186" b="true">
                <a:solidFill>
                  <a:srgbClr val="FCFE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Mathematical Foundations and Limitations</a:t>
            </a:r>
          </a:p>
          <a:p>
            <a:pPr algn="l">
              <a:lnSpc>
                <a:spcPts val="2722"/>
              </a:lnSpc>
            </a:pPr>
            <a:r>
              <a:rPr lang="en-US" sz="2866" spc="-186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Forward Propagation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Where: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x </a:t>
            </a: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= Input  , W = Weights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b</a:t>
            </a: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= Biases  , f = Activation function , a = Output  activation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866" spc="-186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Training Process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Loss functions measure prediction errors.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Backpropagation calculates gradients using the chain rule.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Optimizers use gradients to update parameters.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866" spc="-186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Limitations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Overfitting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Data dependency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Computational cost</a:t>
            </a:r>
          </a:p>
          <a:p>
            <a:pPr algn="l" marL="618834" indent="-309417" lvl="1">
              <a:lnSpc>
                <a:spcPts val="2722"/>
              </a:lnSpc>
              <a:buFont typeface="Arial"/>
              <a:buChar char="•"/>
            </a:pPr>
            <a:r>
              <a:rPr lang="en-US" sz="2866" spc="-18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Limited interpretability</a:t>
            </a:r>
          </a:p>
          <a:p>
            <a:pPr algn="l" marL="0" indent="0" lvl="0">
              <a:lnSpc>
                <a:spcPts val="2722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5002258" y="3305385"/>
            <a:ext cx="2805818" cy="925920"/>
            <a:chOff x="0" y="0"/>
            <a:chExt cx="635000" cy="2095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209550"/>
            </a:xfrm>
            <a:custGeom>
              <a:avLst/>
              <a:gdLst/>
              <a:ahLst/>
              <a:cxnLst/>
              <a:rect r="r" b="b" t="t" l="l"/>
              <a:pathLst>
                <a:path h="209550" w="635000">
                  <a:moveTo>
                    <a:pt x="53891" y="0"/>
                  </a:moveTo>
                  <a:lnTo>
                    <a:pt x="581109" y="0"/>
                  </a:lnTo>
                  <a:cubicBezTo>
                    <a:pt x="595401" y="0"/>
                    <a:pt x="609109" y="5678"/>
                    <a:pt x="619216" y="15784"/>
                  </a:cubicBezTo>
                  <a:cubicBezTo>
                    <a:pt x="629322" y="25891"/>
                    <a:pt x="635000" y="39598"/>
                    <a:pt x="635000" y="53891"/>
                  </a:cubicBezTo>
                  <a:lnTo>
                    <a:pt x="635000" y="155659"/>
                  </a:lnTo>
                  <a:cubicBezTo>
                    <a:pt x="635000" y="169952"/>
                    <a:pt x="629322" y="183659"/>
                    <a:pt x="619216" y="193766"/>
                  </a:cubicBezTo>
                  <a:cubicBezTo>
                    <a:pt x="609109" y="203872"/>
                    <a:pt x="595401" y="209550"/>
                    <a:pt x="581109" y="209550"/>
                  </a:cubicBezTo>
                  <a:lnTo>
                    <a:pt x="53891" y="209550"/>
                  </a:lnTo>
                  <a:cubicBezTo>
                    <a:pt x="39598" y="209550"/>
                    <a:pt x="25891" y="203872"/>
                    <a:pt x="15784" y="193766"/>
                  </a:cubicBezTo>
                  <a:cubicBezTo>
                    <a:pt x="5678" y="183659"/>
                    <a:pt x="0" y="169952"/>
                    <a:pt x="0" y="155659"/>
                  </a:cubicBezTo>
                  <a:lnTo>
                    <a:pt x="0" y="53891"/>
                  </a:lnTo>
                  <a:cubicBezTo>
                    <a:pt x="0" y="39598"/>
                    <a:pt x="5678" y="25891"/>
                    <a:pt x="15784" y="15784"/>
                  </a:cubicBezTo>
                  <a:cubicBezTo>
                    <a:pt x="25891" y="5678"/>
                    <a:pt x="39598" y="0"/>
                    <a:pt x="538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350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 = Wx+b             a=f(z)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22233" y="1408238"/>
            <a:ext cx="7688040" cy="135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8"/>
              </a:lnSpc>
            </a:pPr>
            <a:r>
              <a:rPr lang="en-US" sz="5400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Expert-Level Explanation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48092" y="3834587"/>
            <a:ext cx="13234965" cy="6177532"/>
            <a:chOff x="0" y="0"/>
            <a:chExt cx="3485752" cy="16270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85752" cy="1627004"/>
            </a:xfrm>
            <a:custGeom>
              <a:avLst/>
              <a:gdLst/>
              <a:ahLst/>
              <a:cxnLst/>
              <a:rect r="r" b="b" t="t" l="l"/>
              <a:pathLst>
                <a:path h="1627004" w="3485752">
                  <a:moveTo>
                    <a:pt x="29833" y="0"/>
                  </a:moveTo>
                  <a:lnTo>
                    <a:pt x="3455919" y="0"/>
                  </a:lnTo>
                  <a:cubicBezTo>
                    <a:pt x="3472395" y="0"/>
                    <a:pt x="3485752" y="13357"/>
                    <a:pt x="3485752" y="29833"/>
                  </a:cubicBezTo>
                  <a:lnTo>
                    <a:pt x="3485752" y="1597171"/>
                  </a:lnTo>
                  <a:cubicBezTo>
                    <a:pt x="3485752" y="1613648"/>
                    <a:pt x="3472395" y="1627004"/>
                    <a:pt x="3455919" y="1627004"/>
                  </a:cubicBezTo>
                  <a:lnTo>
                    <a:pt x="29833" y="1627004"/>
                  </a:lnTo>
                  <a:cubicBezTo>
                    <a:pt x="13357" y="1627004"/>
                    <a:pt x="0" y="1613648"/>
                    <a:pt x="0" y="1597171"/>
                  </a:cubicBezTo>
                  <a:lnTo>
                    <a:pt x="0" y="29833"/>
                  </a:lnTo>
                  <a:cubicBezTo>
                    <a:pt x="0" y="13357"/>
                    <a:pt x="13357" y="0"/>
                    <a:pt x="29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61560">
                    <a:alpha val="100000"/>
                  </a:srgbClr>
                </a:gs>
                <a:gs pos="100000">
                  <a:srgbClr val="2D82C8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3485752" cy="1569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33403" y="2462813"/>
            <a:ext cx="7512148" cy="8229600"/>
          </a:xfrm>
          <a:custGeom>
            <a:avLst/>
            <a:gdLst/>
            <a:ahLst/>
            <a:cxnLst/>
            <a:rect r="r" b="b" t="t" l="l"/>
            <a:pathLst>
              <a:path h="8229600" w="7512148">
                <a:moveTo>
                  <a:pt x="0" y="0"/>
                </a:moveTo>
                <a:lnTo>
                  <a:pt x="7512147" y="0"/>
                </a:lnTo>
                <a:lnTo>
                  <a:pt x="7512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2730" y="-2431262"/>
            <a:ext cx="7233139" cy="6189649"/>
          </a:xfrm>
          <a:custGeom>
            <a:avLst/>
            <a:gdLst/>
            <a:ahLst/>
            <a:cxnLst/>
            <a:rect r="r" b="b" t="t" l="l"/>
            <a:pathLst>
              <a:path h="6189649" w="7233139">
                <a:moveTo>
                  <a:pt x="0" y="0"/>
                </a:moveTo>
                <a:lnTo>
                  <a:pt x="7233140" y="0"/>
                </a:lnTo>
                <a:lnTo>
                  <a:pt x="7233140" y="6189649"/>
                </a:lnTo>
                <a:lnTo>
                  <a:pt x="0" y="6189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22671" y="1161625"/>
            <a:ext cx="12042659" cy="21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Research and Verification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49543" y="4099158"/>
            <a:ext cx="11938457" cy="617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3"/>
              </a:lnSpc>
            </a:pPr>
            <a:r>
              <a:rPr lang="en-US" sz="3024" spc="-196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Sources Consulted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Deep Learning textbook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Google Machine Learning Crash Course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Stanford CS231n</a:t>
            </a:r>
          </a:p>
          <a:p>
            <a:pPr algn="l">
              <a:lnSpc>
                <a:spcPts val="2873"/>
              </a:lnSpc>
            </a:pPr>
          </a:p>
          <a:p>
            <a:pPr algn="ctr">
              <a:lnSpc>
                <a:spcPts val="2873"/>
              </a:lnSpc>
            </a:pPr>
            <a:r>
              <a:rPr lang="en-US" sz="3024" spc="-196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Claims Investigated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Neural network architecture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Parameter learning during training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Gradients and backpropagation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Overfitting and generalization</a:t>
            </a:r>
          </a:p>
          <a:p>
            <a:pPr algn="l" marL="653081" indent="-326540" lvl="1">
              <a:lnSpc>
                <a:spcPts val="2873"/>
              </a:lnSpc>
              <a:buFont typeface="Arial"/>
              <a:buChar char="•"/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Artificial versus biological neural networks</a:t>
            </a:r>
          </a:p>
          <a:p>
            <a:pPr algn="l">
              <a:lnSpc>
                <a:spcPts val="2873"/>
              </a:lnSpc>
            </a:pPr>
          </a:p>
          <a:p>
            <a:pPr algn="ctr">
              <a:lnSpc>
                <a:spcPts val="2873"/>
              </a:lnSpc>
            </a:pPr>
            <a:r>
              <a:rPr lang="en-US" sz="3024" spc="-196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Important Correction:</a:t>
            </a:r>
          </a:p>
          <a:p>
            <a:pPr algn="ctr">
              <a:lnSpc>
                <a:spcPts val="2873"/>
              </a:lnSpc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Artificial Neural Networks are inspired by aspects of biological neural systems but are not identical to human brains.</a:t>
            </a:r>
          </a:p>
          <a:p>
            <a:pPr algn="ctr">
              <a:lnSpc>
                <a:spcPts val="2873"/>
              </a:lnSpc>
            </a:pPr>
            <a:r>
              <a:rPr lang="en-US" sz="3024" spc="-196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ctr" marL="0" indent="0" lvl="0">
              <a:lnSpc>
                <a:spcPts val="2873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537675" y="7657069"/>
            <a:ext cx="10052156" cy="10052156"/>
          </a:xfrm>
          <a:custGeom>
            <a:avLst/>
            <a:gdLst/>
            <a:ahLst/>
            <a:cxnLst/>
            <a:rect r="r" b="b" t="t" l="l"/>
            <a:pathLst>
              <a:path h="10052156" w="10052156">
                <a:moveTo>
                  <a:pt x="0" y="0"/>
                </a:moveTo>
                <a:lnTo>
                  <a:pt x="10052156" y="0"/>
                </a:lnTo>
                <a:lnTo>
                  <a:pt x="10052156" y="10052156"/>
                </a:lnTo>
                <a:lnTo>
                  <a:pt x="0" y="10052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988705" y="3305385"/>
            <a:ext cx="12796369" cy="6857826"/>
            <a:chOff x="0" y="0"/>
            <a:chExt cx="3370237" cy="1806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70237" cy="1806176"/>
            </a:xfrm>
            <a:custGeom>
              <a:avLst/>
              <a:gdLst/>
              <a:ahLst/>
              <a:cxnLst/>
              <a:rect r="r" b="b" t="t" l="l"/>
              <a:pathLst>
                <a:path h="1806176" w="3370237">
                  <a:moveTo>
                    <a:pt x="30855" y="0"/>
                  </a:moveTo>
                  <a:lnTo>
                    <a:pt x="3339382" y="0"/>
                  </a:lnTo>
                  <a:cubicBezTo>
                    <a:pt x="3347565" y="0"/>
                    <a:pt x="3355413" y="3251"/>
                    <a:pt x="3361200" y="9037"/>
                  </a:cubicBezTo>
                  <a:cubicBezTo>
                    <a:pt x="3366986" y="14824"/>
                    <a:pt x="3370237" y="22672"/>
                    <a:pt x="3370237" y="30855"/>
                  </a:cubicBezTo>
                  <a:lnTo>
                    <a:pt x="3370237" y="1775321"/>
                  </a:lnTo>
                  <a:cubicBezTo>
                    <a:pt x="3370237" y="1792362"/>
                    <a:pt x="3356423" y="1806176"/>
                    <a:pt x="3339382" y="1806176"/>
                  </a:cubicBezTo>
                  <a:lnTo>
                    <a:pt x="30855" y="1806176"/>
                  </a:lnTo>
                  <a:cubicBezTo>
                    <a:pt x="22672" y="1806176"/>
                    <a:pt x="14824" y="1802926"/>
                    <a:pt x="9037" y="1797139"/>
                  </a:cubicBezTo>
                  <a:cubicBezTo>
                    <a:pt x="3251" y="1791352"/>
                    <a:pt x="0" y="1783504"/>
                    <a:pt x="0" y="1775321"/>
                  </a:cubicBezTo>
                  <a:lnTo>
                    <a:pt x="0" y="30855"/>
                  </a:lnTo>
                  <a:cubicBezTo>
                    <a:pt x="0" y="22672"/>
                    <a:pt x="3251" y="14824"/>
                    <a:pt x="9037" y="9037"/>
                  </a:cubicBezTo>
                  <a:cubicBezTo>
                    <a:pt x="14824" y="3251"/>
                    <a:pt x="22672" y="0"/>
                    <a:pt x="308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61560">
                    <a:alpha val="100000"/>
                  </a:srgbClr>
                </a:gs>
                <a:gs pos="100000">
                  <a:srgbClr val="2D82C8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3370237" cy="17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33403" y="2462813"/>
            <a:ext cx="7512148" cy="8229600"/>
          </a:xfrm>
          <a:custGeom>
            <a:avLst/>
            <a:gdLst/>
            <a:ahLst/>
            <a:cxnLst/>
            <a:rect r="r" b="b" t="t" l="l"/>
            <a:pathLst>
              <a:path h="8229600" w="7512148">
                <a:moveTo>
                  <a:pt x="0" y="0"/>
                </a:moveTo>
                <a:lnTo>
                  <a:pt x="7512147" y="0"/>
                </a:lnTo>
                <a:lnTo>
                  <a:pt x="7512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2730" y="-2431262"/>
            <a:ext cx="7233139" cy="6189649"/>
          </a:xfrm>
          <a:custGeom>
            <a:avLst/>
            <a:gdLst/>
            <a:ahLst/>
            <a:cxnLst/>
            <a:rect r="r" b="b" t="t" l="l"/>
            <a:pathLst>
              <a:path h="6189649" w="7233139">
                <a:moveTo>
                  <a:pt x="0" y="0"/>
                </a:moveTo>
                <a:lnTo>
                  <a:pt x="7233140" y="0"/>
                </a:lnTo>
                <a:lnTo>
                  <a:pt x="7233140" y="6189649"/>
                </a:lnTo>
                <a:lnTo>
                  <a:pt x="0" y="6189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28865" y="3477628"/>
            <a:ext cx="9381925" cy="666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0"/>
              </a:lnSpc>
            </a:pPr>
            <a:r>
              <a:rPr lang="en-US" sz="3274" spc="-212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Tools Used in the Project</a:t>
            </a:r>
          </a:p>
          <a:p>
            <a:pPr algn="ctr">
              <a:lnSpc>
                <a:spcPts val="3110"/>
              </a:lnSpc>
            </a:pPr>
          </a:p>
          <a:p>
            <a:pPr algn="l" marL="706995" indent="-353498" lvl="1">
              <a:lnSpc>
                <a:spcPts val="3110"/>
              </a:lnSpc>
              <a:buFont typeface="Arial"/>
              <a:buChar char="•"/>
            </a:pPr>
            <a:r>
              <a:rPr lang="en-US" sz="3274" spc="-212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ChatGPT: Generate explanations at three learning levels.</a:t>
            </a:r>
          </a:p>
          <a:p>
            <a:pPr algn="l" marL="706995" indent="-353498" lvl="1">
              <a:lnSpc>
                <a:spcPts val="3110"/>
              </a:lnSpc>
              <a:buFont typeface="Arial"/>
              <a:buChar char="•"/>
            </a:pPr>
            <a:r>
              <a:rPr lang="en-US" sz="3274" spc="-212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Canva: Design presentation slides and visuals.</a:t>
            </a:r>
          </a:p>
          <a:p>
            <a:pPr algn="l" marL="706995" indent="-353498" lvl="1">
              <a:lnSpc>
                <a:spcPts val="3110"/>
              </a:lnSpc>
              <a:buFont typeface="Arial"/>
              <a:buChar char="•"/>
            </a:pPr>
            <a:r>
              <a:rPr lang="en-US" sz="3274" spc="-212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Perplexity: Find research sources.</a:t>
            </a:r>
          </a:p>
          <a:p>
            <a:pPr algn="l" marL="706995" indent="-353498" lvl="1">
              <a:lnSpc>
                <a:spcPts val="3110"/>
              </a:lnSpc>
              <a:buFont typeface="Arial"/>
              <a:buChar char="•"/>
            </a:pPr>
            <a:r>
              <a:rPr lang="en-US" sz="3274" spc="-212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Google Slides or Canva: Organise presentation content.</a:t>
            </a:r>
          </a:p>
          <a:p>
            <a:pPr algn="l" marL="706995" indent="-353498" lvl="1">
              <a:lnSpc>
                <a:spcPts val="3110"/>
              </a:lnSpc>
              <a:buFont typeface="Arial"/>
              <a:buChar char="•"/>
            </a:pPr>
            <a:r>
              <a:rPr lang="en-US" sz="3274" spc="-212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Quiz tool: Assess learner understanding.</a:t>
            </a:r>
          </a:p>
          <a:p>
            <a:pPr algn="l">
              <a:lnSpc>
                <a:spcPts val="3110"/>
              </a:lnSpc>
            </a:pPr>
          </a:p>
          <a:p>
            <a:pPr algn="ctr">
              <a:lnSpc>
                <a:spcPts val="3110"/>
              </a:lnSpc>
            </a:pPr>
            <a:r>
              <a:rPr lang="en-US" sz="3274" spc="-212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Workflow:</a:t>
            </a:r>
          </a:p>
          <a:p>
            <a:pPr algn="ctr">
              <a:lnSpc>
                <a:spcPts val="3110"/>
              </a:lnSpc>
            </a:pPr>
          </a:p>
          <a:p>
            <a:pPr algn="ctr">
              <a:lnSpc>
                <a:spcPts val="3110"/>
              </a:lnSpc>
            </a:pPr>
            <a:r>
              <a:rPr lang="en-US" sz="3274" spc="-212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Prompt Design → Explanation Generation → Visual Creation → Research Verification → Quiz → Final Presentation</a:t>
            </a:r>
          </a:p>
          <a:p>
            <a:pPr algn="ctr">
              <a:lnSpc>
                <a:spcPts val="3110"/>
              </a:lnSpc>
            </a:pPr>
          </a:p>
          <a:p>
            <a:pPr algn="ctr" marL="0" indent="0" lvl="0">
              <a:lnSpc>
                <a:spcPts val="311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637356" y="7494676"/>
            <a:ext cx="10052156" cy="9553752"/>
          </a:xfrm>
          <a:custGeom>
            <a:avLst/>
            <a:gdLst/>
            <a:ahLst/>
            <a:cxnLst/>
            <a:rect r="r" b="b" t="t" l="l"/>
            <a:pathLst>
              <a:path h="9553752" w="10052156">
                <a:moveTo>
                  <a:pt x="0" y="0"/>
                </a:moveTo>
                <a:lnTo>
                  <a:pt x="10052156" y="0"/>
                </a:lnTo>
                <a:lnTo>
                  <a:pt x="10052156" y="9553752"/>
                </a:lnTo>
                <a:lnTo>
                  <a:pt x="0" y="95537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5216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45482" y="664562"/>
            <a:ext cx="7166767" cy="215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4"/>
              </a:lnSpc>
            </a:pPr>
          </a:p>
          <a:p>
            <a:pPr algn="l">
              <a:lnSpc>
                <a:spcPts val="5584"/>
              </a:lnSpc>
            </a:pPr>
            <a:r>
              <a:rPr lang="en-US" sz="5757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AI Tools and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87428" y="2359311"/>
            <a:ext cx="11041987" cy="7612936"/>
            <a:chOff x="0" y="0"/>
            <a:chExt cx="2908178" cy="20050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8178" cy="2005053"/>
            </a:xfrm>
            <a:custGeom>
              <a:avLst/>
              <a:gdLst/>
              <a:ahLst/>
              <a:cxnLst/>
              <a:rect r="r" b="b" t="t" l="l"/>
              <a:pathLst>
                <a:path h="2005053" w="2908178">
                  <a:moveTo>
                    <a:pt x="35758" y="0"/>
                  </a:moveTo>
                  <a:lnTo>
                    <a:pt x="2872420" y="0"/>
                  </a:lnTo>
                  <a:cubicBezTo>
                    <a:pt x="2892168" y="0"/>
                    <a:pt x="2908178" y="16009"/>
                    <a:pt x="2908178" y="35758"/>
                  </a:cubicBezTo>
                  <a:lnTo>
                    <a:pt x="2908178" y="1969295"/>
                  </a:lnTo>
                  <a:cubicBezTo>
                    <a:pt x="2908178" y="1978779"/>
                    <a:pt x="2904410" y="1987874"/>
                    <a:pt x="2897705" y="1994580"/>
                  </a:cubicBezTo>
                  <a:cubicBezTo>
                    <a:pt x="2890999" y="2001286"/>
                    <a:pt x="2881903" y="2005053"/>
                    <a:pt x="2872420" y="2005053"/>
                  </a:cubicBezTo>
                  <a:lnTo>
                    <a:pt x="35758" y="2005053"/>
                  </a:lnTo>
                  <a:cubicBezTo>
                    <a:pt x="26274" y="2005053"/>
                    <a:pt x="17179" y="2001286"/>
                    <a:pt x="10473" y="1994580"/>
                  </a:cubicBezTo>
                  <a:cubicBezTo>
                    <a:pt x="3767" y="1987874"/>
                    <a:pt x="0" y="1978779"/>
                    <a:pt x="0" y="1969295"/>
                  </a:cubicBezTo>
                  <a:lnTo>
                    <a:pt x="0" y="35758"/>
                  </a:lnTo>
                  <a:cubicBezTo>
                    <a:pt x="0" y="26274"/>
                    <a:pt x="3767" y="17179"/>
                    <a:pt x="10473" y="10473"/>
                  </a:cubicBezTo>
                  <a:cubicBezTo>
                    <a:pt x="17179" y="3767"/>
                    <a:pt x="26274" y="0"/>
                    <a:pt x="357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61560">
                    <a:alpha val="100000"/>
                  </a:srgbClr>
                </a:gs>
                <a:gs pos="100000">
                  <a:srgbClr val="2D82C8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2908178" cy="1947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812829" y="2788617"/>
            <a:ext cx="7512148" cy="8229600"/>
          </a:xfrm>
          <a:custGeom>
            <a:avLst/>
            <a:gdLst/>
            <a:ahLst/>
            <a:cxnLst/>
            <a:rect r="r" b="b" t="t" l="l"/>
            <a:pathLst>
              <a:path h="8229600" w="7512148">
                <a:moveTo>
                  <a:pt x="0" y="0"/>
                </a:moveTo>
                <a:lnTo>
                  <a:pt x="7512148" y="0"/>
                </a:lnTo>
                <a:lnTo>
                  <a:pt x="75121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2730" y="-2431262"/>
            <a:ext cx="7233139" cy="6189649"/>
          </a:xfrm>
          <a:custGeom>
            <a:avLst/>
            <a:gdLst/>
            <a:ahLst/>
            <a:cxnLst/>
            <a:rect r="r" b="b" t="t" l="l"/>
            <a:pathLst>
              <a:path h="6189649" w="7233139">
                <a:moveTo>
                  <a:pt x="0" y="0"/>
                </a:moveTo>
                <a:lnTo>
                  <a:pt x="7233140" y="0"/>
                </a:lnTo>
                <a:lnTo>
                  <a:pt x="7233140" y="6189649"/>
                </a:lnTo>
                <a:lnTo>
                  <a:pt x="0" y="6189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97831" y="6815788"/>
            <a:ext cx="9552513" cy="287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</a:p>
          <a:p>
            <a:pPr algn="ctr">
              <a:lnSpc>
                <a:spcPts val="3234"/>
              </a:lnSpc>
            </a:pPr>
            <a:r>
              <a:rPr lang="en-US" sz="3404" spc="-221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Learning Activities</a:t>
            </a:r>
          </a:p>
          <a:p>
            <a:pPr algn="ctr">
              <a:lnSpc>
                <a:spcPts val="3234"/>
              </a:lnSpc>
            </a:pPr>
          </a:p>
          <a:p>
            <a:pPr algn="l" marL="648720" indent="-324360" lvl="1">
              <a:lnSpc>
                <a:spcPts val="2854"/>
              </a:lnSpc>
              <a:buAutoNum type="arabicPeriod" startAt="1"/>
            </a:pPr>
            <a:r>
              <a:rPr lang="en-US" sz="3004" spc="-195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004" spc="-195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Explain the concept at three levels.</a:t>
            </a:r>
          </a:p>
          <a:p>
            <a:pPr algn="l" marL="648720" indent="-324360" lvl="1">
              <a:lnSpc>
                <a:spcPts val="2854"/>
              </a:lnSpc>
              <a:buAutoNum type="arabicPeriod" startAt="1"/>
            </a:pPr>
            <a:r>
              <a:rPr lang="en-US" sz="3004" spc="-195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Conduct a short quiz.</a:t>
            </a:r>
          </a:p>
          <a:p>
            <a:pPr algn="l" marL="648720" indent="-324360" lvl="1">
              <a:lnSpc>
                <a:spcPts val="2854"/>
              </a:lnSpc>
              <a:buAutoNum type="arabicPeriod" startAt="1"/>
            </a:pPr>
            <a:r>
              <a:rPr lang="en-US" sz="3004" spc="-195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Compare understanding before and after learning, if measured.</a:t>
            </a:r>
          </a:p>
          <a:p>
            <a:pPr algn="ctr" marL="0" indent="0" lvl="0">
              <a:lnSpc>
                <a:spcPts val="237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695953" y="7557388"/>
            <a:ext cx="10052156" cy="10052156"/>
          </a:xfrm>
          <a:custGeom>
            <a:avLst/>
            <a:gdLst/>
            <a:ahLst/>
            <a:cxnLst/>
            <a:rect r="r" b="b" t="t" l="l"/>
            <a:pathLst>
              <a:path h="10052156" w="10052156">
                <a:moveTo>
                  <a:pt x="0" y="0"/>
                </a:moveTo>
                <a:lnTo>
                  <a:pt x="10052156" y="0"/>
                </a:lnTo>
                <a:lnTo>
                  <a:pt x="10052156" y="10052156"/>
                </a:lnTo>
                <a:lnTo>
                  <a:pt x="0" y="10052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497831" y="2586688"/>
          <a:ext cx="8627085" cy="4162425"/>
        </p:xfrm>
        <a:graphic>
          <a:graphicData uri="http://schemas.openxmlformats.org/drawingml/2006/table">
            <a:tbl>
              <a:tblPr/>
              <a:tblGrid>
                <a:gridCol w="2875695"/>
                <a:gridCol w="2875695"/>
                <a:gridCol w="2875695"/>
              </a:tblGrid>
              <a:tr h="10478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Child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UG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E</a:t>
                      </a:r>
                      <a:r>
                        <a:rPr lang="en-US" sz="3299" b="true">
                          <a:solidFill>
                            <a:srgbClr val="FFFFFF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xpert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9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 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Simple analogy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Technical concepts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Mathematical formulation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7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Visual examples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Network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Gradients and 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9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Basic  understanding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Working principles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Limitations and assumptions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3122671" y="1161625"/>
            <a:ext cx="12042659" cy="109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8000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Quiz and Comparison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16D">
                <a:alpha val="100000"/>
              </a:srgbClr>
            </a:gs>
            <a:gs pos="100000">
              <a:srgbClr val="8124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73069" y="-473964"/>
            <a:ext cx="9199228" cy="3779349"/>
          </a:xfrm>
          <a:custGeom>
            <a:avLst/>
            <a:gdLst/>
            <a:ahLst/>
            <a:cxnLst/>
            <a:rect r="r" b="b" t="t" l="l"/>
            <a:pathLst>
              <a:path h="3779349" w="9199228">
                <a:moveTo>
                  <a:pt x="0" y="3779349"/>
                </a:moveTo>
                <a:lnTo>
                  <a:pt x="9199228" y="3779349"/>
                </a:lnTo>
                <a:lnTo>
                  <a:pt x="9199228" y="0"/>
                </a:lnTo>
                <a:lnTo>
                  <a:pt x="0" y="0"/>
                </a:lnTo>
                <a:lnTo>
                  <a:pt x="0" y="37793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7656" y="-2762844"/>
            <a:ext cx="15812687" cy="15812687"/>
          </a:xfrm>
          <a:custGeom>
            <a:avLst/>
            <a:gdLst/>
            <a:ahLst/>
            <a:cxnLst/>
            <a:rect r="r" b="b" t="t" l="l"/>
            <a:pathLst>
              <a:path h="15812687" w="15812687">
                <a:moveTo>
                  <a:pt x="0" y="0"/>
                </a:moveTo>
                <a:lnTo>
                  <a:pt x="15812688" y="0"/>
                </a:lnTo>
                <a:lnTo>
                  <a:pt x="15812688" y="15812688"/>
                </a:lnTo>
                <a:lnTo>
                  <a:pt x="0" y="15812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16862" y="1256090"/>
            <a:ext cx="14342438" cy="7470020"/>
          </a:xfrm>
          <a:custGeom>
            <a:avLst/>
            <a:gdLst/>
            <a:ahLst/>
            <a:cxnLst/>
            <a:rect r="r" b="b" t="t" l="l"/>
            <a:pathLst>
              <a:path h="7470020" w="14342438">
                <a:moveTo>
                  <a:pt x="0" y="0"/>
                </a:moveTo>
                <a:lnTo>
                  <a:pt x="14342438" y="0"/>
                </a:lnTo>
                <a:lnTo>
                  <a:pt x="14342438" y="7470020"/>
                </a:lnTo>
                <a:lnTo>
                  <a:pt x="0" y="7470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625273" y="6577613"/>
            <a:ext cx="9483971" cy="3896332"/>
          </a:xfrm>
          <a:custGeom>
            <a:avLst/>
            <a:gdLst/>
            <a:ahLst/>
            <a:cxnLst/>
            <a:rect r="r" b="b" t="t" l="l"/>
            <a:pathLst>
              <a:path h="3896332" w="9483971">
                <a:moveTo>
                  <a:pt x="9483971" y="0"/>
                </a:moveTo>
                <a:lnTo>
                  <a:pt x="0" y="0"/>
                </a:lnTo>
                <a:lnTo>
                  <a:pt x="0" y="3896331"/>
                </a:lnTo>
                <a:lnTo>
                  <a:pt x="9483971" y="3896331"/>
                </a:lnTo>
                <a:lnTo>
                  <a:pt x="94839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473069" y="1296541"/>
            <a:ext cx="5403956" cy="54039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39219" t="0" r="-39219" b="0"/>
              </a:stretch>
            </a:blipFill>
            <a:ln w="123825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681621"/>
            <a:ext cx="3917840" cy="39178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-100000" b="0"/>
              </a:stretch>
            </a:blipFill>
            <a:ln w="123825" cap="sq">
              <a:gradFill>
                <a:gsLst>
                  <a:gs pos="0">
                    <a:srgbClr val="0C116D">
                      <a:alpha val="100000"/>
                    </a:srgbClr>
                  </a:gs>
                  <a:gs pos="100000">
                    <a:srgbClr val="C250D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true" flipV="false" rot="0">
            <a:off x="12819188" y="3761683"/>
            <a:ext cx="6775073" cy="7757717"/>
          </a:xfrm>
          <a:custGeom>
            <a:avLst/>
            <a:gdLst/>
            <a:ahLst/>
            <a:cxnLst/>
            <a:rect r="r" b="b" t="t" l="l"/>
            <a:pathLst>
              <a:path h="7757717" w="6775073">
                <a:moveTo>
                  <a:pt x="6775072" y="0"/>
                </a:moveTo>
                <a:lnTo>
                  <a:pt x="0" y="0"/>
                </a:lnTo>
                <a:lnTo>
                  <a:pt x="0" y="7757717"/>
                </a:lnTo>
                <a:lnTo>
                  <a:pt x="6775072" y="7757717"/>
                </a:lnTo>
                <a:lnTo>
                  <a:pt x="6775072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02228" y="1797069"/>
            <a:ext cx="7246089" cy="139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5546" b="true">
                <a:solidFill>
                  <a:srgbClr val="77E8FF"/>
                </a:solidFill>
                <a:latin typeface="TT Hoves Bold"/>
                <a:ea typeface="TT Hoves Bold"/>
                <a:cs typeface="TT Hoves Bold"/>
                <a:sym typeface="TT Hoves Bold"/>
              </a:rPr>
              <a:t>Verification and     Conclusion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7889588">
            <a:off x="10588731" y="-2652989"/>
            <a:ext cx="6067059" cy="5305978"/>
          </a:xfrm>
          <a:custGeom>
            <a:avLst/>
            <a:gdLst/>
            <a:ahLst/>
            <a:cxnLst/>
            <a:rect r="r" b="b" t="t" l="l"/>
            <a:pathLst>
              <a:path h="5305978" w="6067059">
                <a:moveTo>
                  <a:pt x="0" y="0"/>
                </a:moveTo>
                <a:lnTo>
                  <a:pt x="6067059" y="0"/>
                </a:lnTo>
                <a:lnTo>
                  <a:pt x="6067059" y="5305978"/>
                </a:lnTo>
                <a:lnTo>
                  <a:pt x="0" y="5305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44230" y="7640542"/>
            <a:ext cx="2963774" cy="2171137"/>
          </a:xfrm>
          <a:custGeom>
            <a:avLst/>
            <a:gdLst/>
            <a:ahLst/>
            <a:cxnLst/>
            <a:rect r="r" b="b" t="t" l="l"/>
            <a:pathLst>
              <a:path h="2171137" w="2963774">
                <a:moveTo>
                  <a:pt x="0" y="0"/>
                </a:moveTo>
                <a:lnTo>
                  <a:pt x="2963773" y="0"/>
                </a:lnTo>
                <a:lnTo>
                  <a:pt x="2963773" y="2171136"/>
                </a:lnTo>
                <a:lnTo>
                  <a:pt x="0" y="21711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06527" y="3381585"/>
            <a:ext cx="8419470" cy="689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3050" spc="-198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Key Findings</a:t>
            </a:r>
          </a:p>
          <a:p>
            <a:pPr algn="l">
              <a:lnSpc>
                <a:spcPts val="2897"/>
              </a:lnSpc>
            </a:pP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Complex AI concepts can be explained at different learning levels.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Analogies and visuals help introduce unfamiliar ideas.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Technical explanations provide mathematical depth.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Research verification helps identify inaccurate claims.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3050" spc="-198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Limitations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Simplified explanations may omit technical details.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Quiz results may not fully measure understanding.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Neural networks can make incorrect predictions.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3050" spc="-198" u="sng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Future Improvements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Add interactive demonstrations.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Test explanations with more learners.</a:t>
            </a:r>
          </a:p>
          <a:p>
            <a:pPr algn="l" marL="658583" indent="-329291" lvl="1">
              <a:lnSpc>
                <a:spcPts val="2897"/>
              </a:lnSpc>
              <a:buFont typeface="Arial"/>
              <a:buChar char="•"/>
            </a:pPr>
            <a:r>
              <a:rPr lang="en-US" sz="3050" spc="-198">
                <a:solidFill>
                  <a:srgbClr val="FCFEFF"/>
                </a:solidFill>
                <a:latin typeface="TT Hoves"/>
                <a:ea typeface="TT Hoves"/>
                <a:cs typeface="TT Hoves"/>
                <a:sym typeface="TT Hoves"/>
              </a:rPr>
              <a:t>Improve the quiz using learner feedback.</a:t>
            </a:r>
          </a:p>
          <a:p>
            <a:pPr algn="l" marL="0" indent="0" lvl="0">
              <a:lnSpc>
                <a:spcPts val="28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DAHYhu-VTsg</dc:identifier>
  <dcterms:modified xsi:type="dcterms:W3CDTF">2011-08-01T06:04:30Z</dcterms:modified>
  <cp:revision>1</cp:revision>
  <dc:title>Artificial Intelligence</dc:title>
</cp:coreProperties>
</file>